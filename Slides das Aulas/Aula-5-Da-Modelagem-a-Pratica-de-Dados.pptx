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283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Aula 5: Da Modelagem à Prática de Dados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56616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Transformando conceitos em realidade: do planejamento à implementação prática de bancos de dados.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4753"/>
            <a:ext cx="51980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Nossa Jornada de Hoje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51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165991"/>
            <a:ext cx="4215289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108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Revisão do DER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74011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Relembraremos os conceitos fundamentais do Diagrama de Entidade-Relacionamento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2851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165991"/>
            <a:ext cx="4215408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33108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Descobrindo a DDL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740110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Exploraremos a Linguagem de Definição de Dados e sua importância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285166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165991"/>
            <a:ext cx="4215289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3310890"/>
            <a:ext cx="25093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Comandos Essenciais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74011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Dominaremos CREATE, ALTER e DROP na prática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5036701"/>
            <a:ext cx="6422112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181600"/>
            <a:ext cx="27524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Ferramenta Profissional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5610820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Utilizaremos o MySQL Workbench como nossa bancada de trabalho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472237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5036701"/>
            <a:ext cx="6422231" cy="2286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1" name="Text 19"/>
          <p:cNvSpPr/>
          <p:nvPr/>
        </p:nvSpPr>
        <p:spPr>
          <a:xfrm>
            <a:off x="7414260" y="51816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Prática Real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561082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Transformaremos nosso DER em tabelas funcionais no banco de dados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503277"/>
            <a:ext cx="9152453" cy="1143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7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Revisão Rápida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2115" y="1921788"/>
            <a:ext cx="5577245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DER: Nossa Planta Baixa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2115" y="2933105"/>
            <a:ext cx="7721084" cy="87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Diagrama de Entidade-Relacionamento é como a planta baixa de uma construção. Ele nos mostra </a:t>
            </a:r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onde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cada elemento deve ficar, </a:t>
            </a:r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eles se conectam e </a:t>
            </a:r>
            <a:pPr algn="l"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a estrutura geral do nosso banco de dados.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2115" y="3976092"/>
            <a:ext cx="7721084" cy="58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 agora chegou a hora de sair do papel e 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construir a casa de verdade!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Vamos transformar nossos diagramas conceituais em estruturas reais e funcionais.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2115" y="4726305"/>
            <a:ext cx="7721084" cy="292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o momento de dar vida aos nossos dados através da implementação prática no MySQL.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7304" y="2974300"/>
            <a:ext cx="4998482" cy="49984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116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2942153"/>
            <a:ext cx="9075658" cy="602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DDL - Linguagem de Definição de Dados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71644" y="3834289"/>
            <a:ext cx="130871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DDL (Data Definition Language) é o conjunto de comandos SQL responsável por criar, modificar e gerenciar a 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física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banco de dados. É literalmente a linguagem que constrói o esqueleto onde nossos dados irão viver.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71644" y="4668560"/>
            <a:ext cx="6447115" cy="1420178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6" name="Text 3"/>
          <p:cNvSpPr/>
          <p:nvPr/>
        </p:nvSpPr>
        <p:spPr>
          <a:xfrm>
            <a:off x="964525" y="4861441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que é DDL?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4525" y="5278636"/>
            <a:ext cx="606135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Conjunto de comandos para definir a estrutura do banco de dados, incluindo tabelas, índices, restrições e relacionamentos.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11641" y="4668560"/>
            <a:ext cx="6447115" cy="1420178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7604522" y="4861441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604522" y="5278636"/>
            <a:ext cx="606135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Comando fundamental para criar tabelas, índices, views e outros objetos do banco de dados.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1644" y="6281618"/>
            <a:ext cx="6447115" cy="1420178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964525" y="6474500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ALTER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64525" y="6891695"/>
            <a:ext cx="606135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estruturas existentes, permitindo adicionar, remover ou alterar colunas e restrições.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411641" y="6281618"/>
            <a:ext cx="6447115" cy="1420178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7604522" y="6474500"/>
            <a:ext cx="2411611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7604522" y="6891695"/>
            <a:ext cx="6061353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permanentemente objetos do banco, como tabelas, índices ou até mesmo o banco inteiro.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272891"/>
            <a:ext cx="3423642" cy="428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TABLE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396835" y="849749"/>
            <a:ext cx="3628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 Comando Que Cria Realidade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96835" y="1308735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comando CREATE TABLE é onde a mágica acontece. É aqui que transformamos nossas entidades conceituais em tabelas reais, com colunas, tipos de dados e restrições específicas.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396835" y="1578888"/>
            <a:ext cx="13836729" cy="1493401"/>
          </a:xfrm>
          <a:prstGeom prst="roundRect">
            <a:avLst>
              <a:gd name="adj" fmla="val 997"/>
            </a:avLst>
          </a:prstGeom>
          <a:solidFill>
            <a:srgbClr val="49490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014" y="1716286"/>
            <a:ext cx="155019" cy="123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0213" y="170283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Sintaxe Fundamental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50213" y="1969413"/>
            <a:ext cx="13384173" cy="941784"/>
          </a:xfrm>
          <a:prstGeom prst="roundRect">
            <a:avLst>
              <a:gd name="adj" fmla="val 1581"/>
            </a:avLst>
          </a:prstGeom>
          <a:solidFill>
            <a:srgbClr val="2C2C2C"/>
          </a:solidFill>
          <a:ln/>
        </p:spPr>
      </p:sp>
      <p:sp>
        <p:nvSpPr>
          <p:cNvPr id="9" name="Shape 6"/>
          <p:cNvSpPr/>
          <p:nvPr/>
        </p:nvSpPr>
        <p:spPr>
          <a:xfrm>
            <a:off x="745331" y="1969413"/>
            <a:ext cx="13393936" cy="941784"/>
          </a:xfrm>
          <a:prstGeom prst="roundRect">
            <a:avLst>
              <a:gd name="adj" fmla="val 1581"/>
            </a:avLst>
          </a:prstGeom>
          <a:solidFill>
            <a:srgbClr val="2C2C2C"/>
          </a:solidFill>
          <a:ln/>
        </p:spPr>
      </p:sp>
      <p:sp>
        <p:nvSpPr>
          <p:cNvPr id="10" name="Text 7"/>
          <p:cNvSpPr/>
          <p:nvPr/>
        </p:nvSpPr>
        <p:spPr>
          <a:xfrm>
            <a:off x="844510" y="2043827"/>
            <a:ext cx="13195578" cy="792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FFFFF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nome_da_tabela (    coluna1 tipo_de_dado restrições,    coluna2 tipo_de_dado restrições,    ...);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96835" y="3283029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Exemplo Prático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6835" y="3549610"/>
            <a:ext cx="6797397" cy="1258967"/>
          </a:xfrm>
          <a:prstGeom prst="roundRect">
            <a:avLst>
              <a:gd name="adj" fmla="val 1182"/>
            </a:avLst>
          </a:prstGeom>
          <a:solidFill>
            <a:srgbClr val="2C2C2C"/>
          </a:solidFill>
          <a:ln/>
        </p:spPr>
      </p:sp>
      <p:sp>
        <p:nvSpPr>
          <p:cNvPr id="13" name="Shape 10"/>
          <p:cNvSpPr/>
          <p:nvPr/>
        </p:nvSpPr>
        <p:spPr>
          <a:xfrm>
            <a:off x="391954" y="3549610"/>
            <a:ext cx="6807160" cy="1258967"/>
          </a:xfrm>
          <a:prstGeom prst="roundRect">
            <a:avLst>
              <a:gd name="adj" fmla="val 1182"/>
            </a:avLst>
          </a:prstGeom>
          <a:solidFill>
            <a:srgbClr val="2C2C2C"/>
          </a:solidFill>
          <a:ln/>
        </p:spPr>
      </p:sp>
      <p:sp>
        <p:nvSpPr>
          <p:cNvPr id="14" name="Text 11"/>
          <p:cNvSpPr/>
          <p:nvPr/>
        </p:nvSpPr>
        <p:spPr>
          <a:xfrm>
            <a:off x="491133" y="3624024"/>
            <a:ext cx="6608802" cy="11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"clientes" ("id_cliente" INTEGER NOT NULL UNIQUE,"nome"VARCHAR(100) NOT NULL,"email"VARCHAR(150) UNIQUE,"data_cadastro"DATE DEFAULT CURRENT_DATE,PRIMARY KEY("id_cliente" AUTOINCREMENT));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788" y="3295412"/>
            <a:ext cx="6351151" cy="63511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43788" y="9758124"/>
            <a:ext cx="6797397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linha define uma coluna com seu tipo de dado e restrições específicas para garantir a integridade dos dados.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2376"/>
            <a:ext cx="60311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Tipos de Dados Essenciais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2928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o tipo de dado correto é fundamental para o desempenho e integridade do banco. Cada tipo tem características específicas que devem ser consideradas durante a modelagem.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787610"/>
            <a:ext cx="595313" cy="59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6309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Numéricos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060150"/>
            <a:ext cx="639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INT, BIGINT, DECIMAL, FLOAT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Para números inteiros, decimais e valores monetários. DECIMAL é preferível para valores financeiros por sua precisão.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44" y="2787610"/>
            <a:ext cx="595313" cy="595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6309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Texto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39144" y="4060150"/>
            <a:ext cx="639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VARCHAR, CHAR, TEXT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Para strings de tamanho variável, fixo ou grandes volumes de texto. VARCHAR é mais eficiente para textos de tamanho variável.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09605"/>
            <a:ext cx="595313" cy="5953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2529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 Hora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93790" y="6682145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DATE, TIME, DATETIME, TIMESTAMP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Para registrar momentos específicos. TIMESTAMP é útil para auditoria automática de registros.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5409605"/>
            <a:ext cx="595313" cy="5953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62529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Lógicos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39144" y="6682145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BOOLEAN, TINYINT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Para valores verdadeiro/falso. Ideal para flags e controles de status em aplicações.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901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858" y="2916317"/>
            <a:ext cx="10785158" cy="1195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00"/>
              </a:lnSpc>
              <a:buNone/>
            </a:pPr>
            <a:r>
              <a:rPr lang="en-US" sz="7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 Modelagem à Prática</a:t>
            </a:r>
            <a:endParaRPr lang="en-US" sz="7500" dirty="0"/>
          </a:p>
        </p:txBody>
      </p:sp>
      <p:sp>
        <p:nvSpPr>
          <p:cNvPr id="4" name="Text 1"/>
          <p:cNvSpPr/>
          <p:nvPr/>
        </p:nvSpPr>
        <p:spPr>
          <a:xfrm>
            <a:off x="764858" y="4398169"/>
            <a:ext cx="13100685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Agora vem a parte mais emocionante: vamos pegar nosso DER da aula anterior e transformá-lo em comandos SQL reais. É como ver um projeto arquitetônico ganhar vida!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58" y="5224939"/>
            <a:ext cx="4366855" cy="7648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6072" y="6181011"/>
            <a:ext cx="2390180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Entidade no DER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56072" y="6594515"/>
            <a:ext cx="3984427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retângulo em nosso diagrama representa uma entidade com seus atributos definidos.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13" y="5224939"/>
            <a:ext cx="4366855" cy="7648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22927" y="6181011"/>
            <a:ext cx="2390180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Análise dos Atributos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322927" y="6594515"/>
            <a:ext cx="3984427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Identificamos tipos de dados, chaves primárias, restrições e relacionamentos.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568" y="5224939"/>
            <a:ext cx="4366855" cy="7648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89783" y="6181011"/>
            <a:ext cx="2876431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 CREATE TABLE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689783" y="6594515"/>
            <a:ext cx="3984427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Transformamos cada entidade em uma tabela SQL funcional com todas suas especificações.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538758"/>
            <a:ext cx="10905768" cy="612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Workbench: Nossa Bancada de Trabalho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3669" y="1542812"/>
            <a:ext cx="13063061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MySQL Workbench é nossa ferramenta profissional para desenvolvimento de bancos de dados. É onde vamos escrever, testar e executar nossos comandos SQL de forma visual e intuitiva.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69" y="2610564"/>
            <a:ext cx="4938474" cy="49384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07681" y="2610564"/>
            <a:ext cx="440769" cy="440769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6" name="Text 3"/>
          <p:cNvSpPr/>
          <p:nvPr/>
        </p:nvSpPr>
        <p:spPr>
          <a:xfrm>
            <a:off x="6844308" y="2677835"/>
            <a:ext cx="2449116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Interface Intuitiva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44308" y="3179802"/>
            <a:ext cx="3064193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Editor de SQL com destaque de sintaxe, facilitando a escrita e visualização de comandos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0153412" y="2610564"/>
            <a:ext cx="440769" cy="440769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10790039" y="2677835"/>
            <a:ext cx="2981920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Visualização de Esquemas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790039" y="3179802"/>
            <a:ext cx="3064312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tabelas, colunas e relacionamentos de forma gráfica e organizada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07681" y="4512112"/>
            <a:ext cx="440769" cy="440769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6844308" y="4579382"/>
            <a:ext cx="2449116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Execução Segura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844308" y="5081349"/>
            <a:ext cx="7010043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comandos com controle total, incluindo rollback para operações complexas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30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6729" y="502087"/>
            <a:ext cx="5578673" cy="570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Comandos ALTER e DROP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16729" y="1346478"/>
            <a:ext cx="7683341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Além de criar, precisamos saber como modificar e remover estruturas. Estes comandos são essenciais para a manutenção e evolução do banco de dados.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16729" y="2136219"/>
            <a:ext cx="7683341" cy="3037880"/>
          </a:xfrm>
          <a:prstGeom prst="roundRect">
            <a:avLst>
              <a:gd name="adj" fmla="val 902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39589" y="2159079"/>
            <a:ext cx="730329" cy="2992160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832" y="3484007"/>
            <a:ext cx="273844" cy="3423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52442" y="2341602"/>
            <a:ext cx="228230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ALTER TABLE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152442" y="2736413"/>
            <a:ext cx="6724769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estruturas existentes sem perder dados: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152442" y="3233976"/>
            <a:ext cx="6724769" cy="1734741"/>
          </a:xfrm>
          <a:prstGeom prst="roundRect">
            <a:avLst>
              <a:gd name="adj" fmla="val 1579"/>
            </a:avLst>
          </a:prstGeom>
          <a:solidFill>
            <a:srgbClr val="2C2C2C"/>
          </a:solidFill>
          <a:ln/>
        </p:spPr>
      </p:sp>
      <p:sp>
        <p:nvSpPr>
          <p:cNvPr id="11" name="Shape 7"/>
          <p:cNvSpPr/>
          <p:nvPr/>
        </p:nvSpPr>
        <p:spPr>
          <a:xfrm>
            <a:off x="7143393" y="3233976"/>
            <a:ext cx="6742867" cy="1734741"/>
          </a:xfrm>
          <a:prstGeom prst="roundRect">
            <a:avLst>
              <a:gd name="adj" fmla="val 1579"/>
            </a:avLst>
          </a:prstGeom>
          <a:solidFill>
            <a:srgbClr val="2C2C2C"/>
          </a:solidFill>
          <a:ln/>
        </p:spPr>
      </p:sp>
      <p:sp>
        <p:nvSpPr>
          <p:cNvPr id="12" name="Text 8"/>
          <p:cNvSpPr/>
          <p:nvPr/>
        </p:nvSpPr>
        <p:spPr>
          <a:xfrm>
            <a:off x="7325916" y="3370897"/>
            <a:ext cx="6377821" cy="1460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clientes ADD COLUMN telefone VARCHAR(15);ALTER TABLE clientes MODIFY COLUMN nome VARCHAR(200);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6729" y="5356622"/>
            <a:ext cx="7683341" cy="2374344"/>
          </a:xfrm>
          <a:prstGeom prst="roundRect">
            <a:avLst>
              <a:gd name="adj" fmla="val 1154"/>
            </a:avLst>
          </a:prstGeom>
          <a:solidFill>
            <a:srgbClr val="1F1F1F"/>
          </a:solidFill>
          <a:ln w="22860">
            <a:solidFill>
              <a:srgbClr val="57575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39589" y="5379482"/>
            <a:ext cx="730329" cy="2328624"/>
          </a:xfrm>
          <a:prstGeom prst="rect">
            <a:avLst/>
          </a:prstGeom>
          <a:solidFill>
            <a:srgbClr val="3E3E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832" y="6372582"/>
            <a:ext cx="273844" cy="3423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2442" y="5562005"/>
            <a:ext cx="228230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DROP TABLE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152442" y="5956816"/>
            <a:ext cx="6724769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tabelas permanentemente: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152442" y="6454378"/>
            <a:ext cx="6724769" cy="566023"/>
          </a:xfrm>
          <a:prstGeom prst="roundRect">
            <a:avLst>
              <a:gd name="adj" fmla="val 4839"/>
            </a:avLst>
          </a:prstGeom>
          <a:solidFill>
            <a:srgbClr val="2C2C2C"/>
          </a:solidFill>
          <a:ln/>
        </p:spPr>
      </p:sp>
      <p:sp>
        <p:nvSpPr>
          <p:cNvPr id="19" name="Shape 14"/>
          <p:cNvSpPr/>
          <p:nvPr/>
        </p:nvSpPr>
        <p:spPr>
          <a:xfrm>
            <a:off x="7143393" y="6454378"/>
            <a:ext cx="6742867" cy="566023"/>
          </a:xfrm>
          <a:prstGeom prst="roundRect">
            <a:avLst>
              <a:gd name="adj" fmla="val 4839"/>
            </a:avLst>
          </a:prstGeom>
          <a:solidFill>
            <a:srgbClr val="2C2C2C"/>
          </a:solidFill>
          <a:ln/>
        </p:spPr>
      </p:sp>
      <p:sp>
        <p:nvSpPr>
          <p:cNvPr id="20" name="Text 15"/>
          <p:cNvSpPr/>
          <p:nvPr/>
        </p:nvSpPr>
        <p:spPr>
          <a:xfrm>
            <a:off x="7325916" y="6591300"/>
            <a:ext cx="6377821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 TABLE nome_da_tabela;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152442" y="7225784"/>
            <a:ext cx="6724769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Atenção:</a:t>
            </a:r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Este comando remove todos os dados! Use com muito cuidado.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026" y="402908"/>
            <a:ext cx="7325916" cy="91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5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Mão na Massa!</a:t>
            </a:r>
            <a:endParaRPr lang="en-US" sz="5750" dirty="0"/>
          </a:p>
        </p:txBody>
      </p:sp>
      <p:sp>
        <p:nvSpPr>
          <p:cNvPr id="4" name="Text 1"/>
          <p:cNvSpPr/>
          <p:nvPr/>
        </p:nvSpPr>
        <p:spPr>
          <a:xfrm>
            <a:off x="586026" y="1538288"/>
            <a:ext cx="4619387" cy="45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Exercício Prático em Grupo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86026" y="2215872"/>
            <a:ext cx="7971949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Chegou o momento de aplicar todo o conhecimento! Trabalhem em equipe para transformar o DER do projeto em comandos SQL funcionais.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32473" y="3069193"/>
            <a:ext cx="146447" cy="659249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7" name="Shape 4"/>
          <p:cNvSpPr/>
          <p:nvPr/>
        </p:nvSpPr>
        <p:spPr>
          <a:xfrm>
            <a:off x="586026" y="2973110"/>
            <a:ext cx="439460" cy="439460"/>
          </a:xfrm>
          <a:prstGeom prst="roundRect">
            <a:avLst>
              <a:gd name="adj" fmla="val 104037"/>
            </a:avLst>
          </a:prstGeom>
          <a:solidFill>
            <a:srgbClr val="3E3E3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20" y="3055501"/>
            <a:ext cx="219670" cy="2746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1932" y="2995970"/>
            <a:ext cx="2278261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Abrir o MySQL Workbench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71932" y="3312676"/>
            <a:ext cx="738604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Conectem-se ao servidor e criem uma nova conexão para o projeto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52143" y="4094678"/>
            <a:ext cx="146447" cy="659249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12" name="Shape 8"/>
          <p:cNvSpPr/>
          <p:nvPr/>
        </p:nvSpPr>
        <p:spPr>
          <a:xfrm>
            <a:off x="805696" y="3998595"/>
            <a:ext cx="439460" cy="439460"/>
          </a:xfrm>
          <a:prstGeom prst="roundRect">
            <a:avLst>
              <a:gd name="adj" fmla="val 104037"/>
            </a:avLst>
          </a:prstGeom>
          <a:solidFill>
            <a:srgbClr val="3E3E3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591" y="4080986"/>
            <a:ext cx="219670" cy="2746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91603" y="4021455"/>
            <a:ext cx="183141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Criar o Script SQL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91603" y="4338161"/>
            <a:ext cx="7166372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Escrevam os comandos CREATE TABLE baseados no DER desenvolvido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171932" y="5120164"/>
            <a:ext cx="146447" cy="659249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17" name="Shape 12"/>
          <p:cNvSpPr/>
          <p:nvPr/>
        </p:nvSpPr>
        <p:spPr>
          <a:xfrm>
            <a:off x="1025485" y="5024080"/>
            <a:ext cx="439460" cy="439460"/>
          </a:xfrm>
          <a:prstGeom prst="roundRect">
            <a:avLst>
              <a:gd name="adj" fmla="val 104037"/>
            </a:avLst>
          </a:prstGeom>
          <a:solidFill>
            <a:srgbClr val="3E3E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80" y="5106472"/>
            <a:ext cx="219670" cy="27467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11392" y="5046940"/>
            <a:ext cx="183141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Executar o Código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611392" y="5363647"/>
            <a:ext cx="6946583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Testem a criação das tabelas e verifiquem se tudo está funcionando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391722" y="6145649"/>
            <a:ext cx="146447" cy="659249"/>
          </a:xfrm>
          <a:prstGeom prst="roundRect">
            <a:avLst>
              <a:gd name="adj" fmla="val 15007"/>
            </a:avLst>
          </a:prstGeom>
          <a:solidFill>
            <a:srgbClr val="3E3E3E"/>
          </a:solidFill>
          <a:ln/>
        </p:spPr>
      </p:sp>
      <p:sp>
        <p:nvSpPr>
          <p:cNvPr id="22" name="Shape 16"/>
          <p:cNvSpPr/>
          <p:nvPr/>
        </p:nvSpPr>
        <p:spPr>
          <a:xfrm>
            <a:off x="1245275" y="6049566"/>
            <a:ext cx="439460" cy="439460"/>
          </a:xfrm>
          <a:prstGeom prst="roundRect">
            <a:avLst>
              <a:gd name="adj" fmla="val 104037"/>
            </a:avLst>
          </a:prstGeom>
          <a:solidFill>
            <a:srgbClr val="3E3E3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169" y="6131957"/>
            <a:ext cx="219670" cy="27467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831181" y="6072426"/>
            <a:ext cx="1831419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Subir para o GitHub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831181" y="6389132"/>
            <a:ext cx="6726793" cy="234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Salvem o arquivo .sql e façam upload para o repositório do grupo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86026" y="6969800"/>
            <a:ext cx="7971949" cy="856893"/>
          </a:xfrm>
          <a:prstGeom prst="roundRect">
            <a:avLst>
              <a:gd name="adj" fmla="val 2565"/>
            </a:avLst>
          </a:prstGeom>
          <a:solidFill>
            <a:srgbClr val="494904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73" y="7192208"/>
            <a:ext cx="183118" cy="1464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62038" y="7152799"/>
            <a:ext cx="7349490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Lembrem-se: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Documentem o código com comentários explicativos e testem todas as tabelas antes do upload final!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2025-09-21T17:46:26Z</dcterms:created>
  <dcterms:modified xsi:type="dcterms:W3CDTF">2025-09-21T17:46:26Z</dcterms:modified>
</cp:coreProperties>
</file>