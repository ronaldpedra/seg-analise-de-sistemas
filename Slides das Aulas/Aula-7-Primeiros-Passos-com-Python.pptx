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20854"/>
            <a:ext cx="683525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Primeiros Passos com Python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938588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Bem-vindos à Aula 7! Hoje vamos mergulhar no mundo da programação com Python, uma das linguagens mais populares e acessíveis para iniciantes. Prepare-se para descobrir os conceitos fundamentais que vão transformar você em um programador!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3583"/>
            <a:ext cx="519803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Nossa Jornada de Hoje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24820"/>
            <a:ext cx="4215289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4697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Por que Python?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898940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Descubra as vantagens desta linguagem incrível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324820"/>
            <a:ext cx="4215408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9" name="Text 7"/>
          <p:cNvSpPr/>
          <p:nvPr/>
        </p:nvSpPr>
        <p:spPr>
          <a:xfrm>
            <a:off x="5207437" y="3469719"/>
            <a:ext cx="30374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Variáveis e Tipos de Dados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3898940"/>
            <a:ext cx="42154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armazenar informações na memória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324820"/>
            <a:ext cx="4215289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3" name="Text 11"/>
          <p:cNvSpPr/>
          <p:nvPr/>
        </p:nvSpPr>
        <p:spPr>
          <a:xfrm>
            <a:off x="9621203" y="3469719"/>
            <a:ext cx="26025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Estruturas de Controle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3898940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Condicionais e loops para controlar o código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488120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5195530"/>
            <a:ext cx="6422112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404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Funções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5769650"/>
            <a:ext cx="64221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Blocos reutilizáveis para organizar seu código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14260" y="488120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414260" y="5195530"/>
            <a:ext cx="6422231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21" name="Text 19"/>
          <p:cNvSpPr/>
          <p:nvPr/>
        </p:nvSpPr>
        <p:spPr>
          <a:xfrm>
            <a:off x="7414260" y="53404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Mão na Massa!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414260" y="57696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prático aplicando todos os conceitos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096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Por que Python?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79402"/>
            <a:ext cx="763202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é muito mais do que apenas uma linguagem de programação - é sua porta de entrada para o mundo da tecnologia! Com sua sintaxe intuitiva e poder de processamento, Python conquistou desenvolvedores ao redor do mundo.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055263"/>
            <a:ext cx="3716774" cy="1540312"/>
          </a:xfrm>
          <a:prstGeom prst="roundRect">
            <a:avLst>
              <a:gd name="adj" fmla="val 1933"/>
            </a:avLst>
          </a:prstGeom>
          <a:solidFill>
            <a:srgbClr val="3E3E3E"/>
          </a:solidFill>
          <a:ln/>
        </p:spPr>
      </p:sp>
      <p:sp>
        <p:nvSpPr>
          <p:cNvPr id="5" name="Text 3"/>
          <p:cNvSpPr/>
          <p:nvPr/>
        </p:nvSpPr>
        <p:spPr>
          <a:xfrm>
            <a:off x="992148" y="32536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Simplicidade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2148" y="3762137"/>
            <a:ext cx="332005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Sintaxe limpa e legível, perfeita para iniciantes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708922" y="3055263"/>
            <a:ext cx="3716893" cy="1540312"/>
          </a:xfrm>
          <a:prstGeom prst="roundRect">
            <a:avLst>
              <a:gd name="adj" fmla="val 1933"/>
            </a:avLst>
          </a:prstGeom>
          <a:solidFill>
            <a:srgbClr val="3E3E3E"/>
          </a:solidFill>
          <a:ln/>
        </p:spPr>
      </p:sp>
      <p:sp>
        <p:nvSpPr>
          <p:cNvPr id="8" name="Text 6"/>
          <p:cNvSpPr/>
          <p:nvPr/>
        </p:nvSpPr>
        <p:spPr>
          <a:xfrm>
            <a:off x="4907280" y="32536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Versatilidade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907280" y="3762137"/>
            <a:ext cx="332017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Web, dados, IA, games - Python faz tudo!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4793933"/>
            <a:ext cx="7632025" cy="1222772"/>
          </a:xfrm>
          <a:prstGeom prst="roundRect">
            <a:avLst>
              <a:gd name="adj" fmla="val 2435"/>
            </a:avLst>
          </a:prstGeom>
          <a:solidFill>
            <a:srgbClr val="3E3E3E"/>
          </a:solidFill>
          <a:ln/>
        </p:spPr>
      </p:sp>
      <p:sp>
        <p:nvSpPr>
          <p:cNvPr id="11" name="Text 9"/>
          <p:cNvSpPr/>
          <p:nvPr/>
        </p:nvSpPr>
        <p:spPr>
          <a:xfrm>
            <a:off x="992148" y="499229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Comunidade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2148" y="5500807"/>
            <a:ext cx="7235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Milhões de desenvolvedores prontos para ajudar</a:t>
            </a:r>
            <a:endParaRPr lang="en-US" sz="15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543" y="1085850"/>
            <a:ext cx="4926568" cy="49265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17543" y="6235660"/>
            <a:ext cx="49265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Empresas como Google, Netflix, Instagram e Spotify usam Python diariamente. É uma linguagem que abre portas no mercado de trabalho!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8174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1501" y="2332911"/>
            <a:ext cx="5323523" cy="454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Variáveis: Suas Caixas de Dados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81501" y="3005257"/>
            <a:ext cx="13467398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Imagine variáveis como caixas etiquetadas onde você guarda diferentes tipos de informação. Em Python, essas "caixas" podem armazenar textos, números, valores verdadeiro/falso e muito mais!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01" y="3401258"/>
            <a:ext cx="436126" cy="4361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1501" y="4019074"/>
            <a:ext cx="1817489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String (str)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81501" y="4333399"/>
            <a:ext cx="6642854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Armazena textos entre aspas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81501" y="4729401"/>
            <a:ext cx="6642854" cy="682943"/>
          </a:xfrm>
          <a:prstGeom prst="roundRect">
            <a:avLst>
              <a:gd name="adj" fmla="val 3194"/>
            </a:avLst>
          </a:prstGeom>
          <a:solidFill>
            <a:srgbClr val="2C2C2C"/>
          </a:solidFill>
          <a:ln/>
        </p:spPr>
      </p:sp>
      <p:sp>
        <p:nvSpPr>
          <p:cNvPr id="9" name="Shape 5"/>
          <p:cNvSpPr/>
          <p:nvPr/>
        </p:nvSpPr>
        <p:spPr>
          <a:xfrm>
            <a:off x="574238" y="4729401"/>
            <a:ext cx="6657380" cy="682943"/>
          </a:xfrm>
          <a:prstGeom prst="roundRect">
            <a:avLst>
              <a:gd name="adj" fmla="val 3194"/>
            </a:avLst>
          </a:prstGeom>
          <a:solidFill>
            <a:srgbClr val="2C2C2C"/>
          </a:solidFill>
          <a:ln/>
        </p:spPr>
      </p:sp>
      <p:sp>
        <p:nvSpPr>
          <p:cNvPr id="10" name="Text 6"/>
          <p:cNvSpPr/>
          <p:nvPr/>
        </p:nvSpPr>
        <p:spPr>
          <a:xfrm>
            <a:off x="719614" y="4838343"/>
            <a:ext cx="6366629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 = "João"mensagem = 'Olá mundo!'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045" y="3401258"/>
            <a:ext cx="436126" cy="4361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06045" y="4019074"/>
            <a:ext cx="1817489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Integer (int)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406045" y="4333399"/>
            <a:ext cx="6642854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Números inteiros positivos ou negativos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406045" y="4729401"/>
            <a:ext cx="6642854" cy="682943"/>
          </a:xfrm>
          <a:prstGeom prst="roundRect">
            <a:avLst>
              <a:gd name="adj" fmla="val 3194"/>
            </a:avLst>
          </a:prstGeom>
          <a:solidFill>
            <a:srgbClr val="2C2C2C"/>
          </a:solidFill>
          <a:ln/>
        </p:spPr>
      </p:sp>
      <p:sp>
        <p:nvSpPr>
          <p:cNvPr id="15" name="Shape 10"/>
          <p:cNvSpPr/>
          <p:nvPr/>
        </p:nvSpPr>
        <p:spPr>
          <a:xfrm>
            <a:off x="7398782" y="4729401"/>
            <a:ext cx="6657380" cy="682943"/>
          </a:xfrm>
          <a:prstGeom prst="roundRect">
            <a:avLst>
              <a:gd name="adj" fmla="val 3194"/>
            </a:avLst>
          </a:prstGeom>
          <a:solidFill>
            <a:srgbClr val="2C2C2C"/>
          </a:solidFill>
          <a:ln/>
        </p:spPr>
      </p:sp>
      <p:sp>
        <p:nvSpPr>
          <p:cNvPr id="16" name="Text 11"/>
          <p:cNvSpPr/>
          <p:nvPr/>
        </p:nvSpPr>
        <p:spPr>
          <a:xfrm>
            <a:off x="7544157" y="4838343"/>
            <a:ext cx="6366629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idade = 25temperatura = -10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01" y="5703094"/>
            <a:ext cx="436126" cy="4361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1501" y="6320909"/>
            <a:ext cx="1817489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Float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81501" y="6635234"/>
            <a:ext cx="6642854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Números com casas decimais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81501" y="7031236"/>
            <a:ext cx="6642854" cy="682943"/>
          </a:xfrm>
          <a:prstGeom prst="roundRect">
            <a:avLst>
              <a:gd name="adj" fmla="val 3194"/>
            </a:avLst>
          </a:prstGeom>
          <a:solidFill>
            <a:srgbClr val="2C2C2C"/>
          </a:solidFill>
          <a:ln/>
        </p:spPr>
      </p:sp>
      <p:sp>
        <p:nvSpPr>
          <p:cNvPr id="21" name="Shape 15"/>
          <p:cNvSpPr/>
          <p:nvPr/>
        </p:nvSpPr>
        <p:spPr>
          <a:xfrm>
            <a:off x="574238" y="7031236"/>
            <a:ext cx="6657380" cy="682943"/>
          </a:xfrm>
          <a:prstGeom prst="roundRect">
            <a:avLst>
              <a:gd name="adj" fmla="val 3194"/>
            </a:avLst>
          </a:prstGeom>
          <a:solidFill>
            <a:srgbClr val="2C2C2C"/>
          </a:solidFill>
          <a:ln/>
        </p:spPr>
      </p:sp>
      <p:sp>
        <p:nvSpPr>
          <p:cNvPr id="22" name="Text 16"/>
          <p:cNvSpPr/>
          <p:nvPr/>
        </p:nvSpPr>
        <p:spPr>
          <a:xfrm>
            <a:off x="719614" y="7140178"/>
            <a:ext cx="6366629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preco = 99.99altura = 1.75</a:t>
            </a:r>
            <a:endParaRPr lang="en-US" sz="11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045" y="5703094"/>
            <a:ext cx="436126" cy="4361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06045" y="6320909"/>
            <a:ext cx="1817489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Boolean (bool)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406045" y="6635234"/>
            <a:ext cx="6642854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Apenas True (verdadeiro) ou False (falso)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7406045" y="7031236"/>
            <a:ext cx="6642854" cy="682943"/>
          </a:xfrm>
          <a:prstGeom prst="roundRect">
            <a:avLst>
              <a:gd name="adj" fmla="val 3194"/>
            </a:avLst>
          </a:prstGeom>
          <a:solidFill>
            <a:srgbClr val="2C2C2C"/>
          </a:solidFill>
          <a:ln/>
        </p:spPr>
      </p:sp>
      <p:sp>
        <p:nvSpPr>
          <p:cNvPr id="27" name="Shape 20"/>
          <p:cNvSpPr/>
          <p:nvPr/>
        </p:nvSpPr>
        <p:spPr>
          <a:xfrm>
            <a:off x="7398782" y="7031236"/>
            <a:ext cx="6657380" cy="682943"/>
          </a:xfrm>
          <a:prstGeom prst="roundRect">
            <a:avLst>
              <a:gd name="adj" fmla="val 3194"/>
            </a:avLst>
          </a:prstGeom>
          <a:solidFill>
            <a:srgbClr val="2C2C2C"/>
          </a:solidFill>
          <a:ln/>
        </p:spPr>
      </p:sp>
      <p:sp>
        <p:nvSpPr>
          <p:cNvPr id="28" name="Text 21"/>
          <p:cNvSpPr/>
          <p:nvPr/>
        </p:nvSpPr>
        <p:spPr>
          <a:xfrm>
            <a:off x="7544157" y="7140178"/>
            <a:ext cx="6366629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ativo = Truelogado = False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271" y="311587"/>
            <a:ext cx="4353044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Condicionais: Tomando Decisões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3271" y="937617"/>
            <a:ext cx="6723698" cy="3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estruturas condicionais permitem que seu programa tome decisões baseadas em diferentes situações. É como ensinar o computador a pensar!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271" y="1427678"/>
            <a:ext cx="566618" cy="6980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118" y="1540907"/>
            <a:ext cx="1416725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if (se)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118" y="1831181"/>
            <a:ext cx="6043851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Executa código se uma condição for verdadeira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71" y="2125742"/>
            <a:ext cx="566618" cy="6980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3118" y="2238970"/>
            <a:ext cx="1416725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elif (senão se)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33118" y="2529245"/>
            <a:ext cx="6043851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Testa uma nova condição se a anterior for falsa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71" y="2823805"/>
            <a:ext cx="566618" cy="6980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33118" y="2937034"/>
            <a:ext cx="1416725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else (senão)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133118" y="3227308"/>
            <a:ext cx="6043851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Executa quando todas as condições são falsas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052" y="963097"/>
            <a:ext cx="6723698" cy="672369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61052" y="7814191"/>
            <a:ext cx="1416725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Exemplo Prático: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7461052" y="8118634"/>
            <a:ext cx="6723698" cy="1620441"/>
          </a:xfrm>
          <a:prstGeom prst="roundRect">
            <a:avLst>
              <a:gd name="adj" fmla="val 1049"/>
            </a:avLst>
          </a:prstGeom>
          <a:solidFill>
            <a:srgbClr val="2C2C2C"/>
          </a:solidFill>
          <a:ln/>
        </p:spPr>
      </p:sp>
      <p:sp>
        <p:nvSpPr>
          <p:cNvPr id="16" name="Shape 10"/>
          <p:cNvSpPr/>
          <p:nvPr/>
        </p:nvSpPr>
        <p:spPr>
          <a:xfrm>
            <a:off x="7455456" y="8118634"/>
            <a:ext cx="6734889" cy="1620441"/>
          </a:xfrm>
          <a:prstGeom prst="roundRect">
            <a:avLst>
              <a:gd name="adj" fmla="val 1049"/>
            </a:avLst>
          </a:prstGeom>
          <a:solidFill>
            <a:srgbClr val="2C2C2C"/>
          </a:solidFill>
          <a:ln/>
        </p:spPr>
      </p:sp>
      <p:sp>
        <p:nvSpPr>
          <p:cNvPr id="17" name="Text 11"/>
          <p:cNvSpPr/>
          <p:nvPr/>
        </p:nvSpPr>
        <p:spPr>
          <a:xfrm>
            <a:off x="7568684" y="8203525"/>
            <a:ext cx="6508433" cy="1450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idade = 17if idade &gt;= 18: print("Pode dirigir!")elif idade &gt;= 16: print("Pode tirar habilitação")else: print("Ainda não pode dirigir")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1489" y="492323"/>
            <a:ext cx="4998482" cy="558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Loops: Repetindo Ações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201489" y="1319093"/>
            <a:ext cx="7713821" cy="57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Loops são estruturas que repetem blocos de código automaticamente. Imagine não ter que escrever o mesmo código 100 vezes - os loops fazem isso por você!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01489" y="2092404"/>
            <a:ext cx="22860" cy="5644872"/>
          </a:xfrm>
          <a:prstGeom prst="roundRect">
            <a:avLst>
              <a:gd name="adj" fmla="val 117307"/>
            </a:avLst>
          </a:prstGeom>
          <a:solidFill>
            <a:srgbClr val="575757"/>
          </a:solidFill>
          <a:ln/>
        </p:spPr>
      </p:sp>
      <p:sp>
        <p:nvSpPr>
          <p:cNvPr id="6" name="Shape 3"/>
          <p:cNvSpPr/>
          <p:nvPr/>
        </p:nvSpPr>
        <p:spPr>
          <a:xfrm>
            <a:off x="6224349" y="2092404"/>
            <a:ext cx="7713821" cy="2643664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7" name="Text 4"/>
          <p:cNvSpPr/>
          <p:nvPr/>
        </p:nvSpPr>
        <p:spPr>
          <a:xfrm>
            <a:off x="6403062" y="2271117"/>
            <a:ext cx="2234684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Loop FOR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403062" y="2657594"/>
            <a:ext cx="735639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Repete um número específico de vezes ou percorre uma lista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3062" y="3144798"/>
            <a:ext cx="7356396" cy="1412557"/>
          </a:xfrm>
          <a:prstGeom prst="roundRect">
            <a:avLst>
              <a:gd name="adj" fmla="val 1898"/>
            </a:avLst>
          </a:prstGeom>
          <a:solidFill>
            <a:srgbClr val="2C2C2C"/>
          </a:solidFill>
          <a:ln/>
        </p:spPr>
      </p:sp>
      <p:sp>
        <p:nvSpPr>
          <p:cNvPr id="10" name="Shape 7"/>
          <p:cNvSpPr/>
          <p:nvPr/>
        </p:nvSpPr>
        <p:spPr>
          <a:xfrm>
            <a:off x="6394133" y="3144798"/>
            <a:ext cx="7374255" cy="1412557"/>
          </a:xfrm>
          <a:prstGeom prst="roundRect">
            <a:avLst>
              <a:gd name="adj" fmla="val 1898"/>
            </a:avLst>
          </a:prstGeom>
          <a:solidFill>
            <a:srgbClr val="2C2C2C"/>
          </a:solidFill>
          <a:ln/>
        </p:spPr>
      </p:sp>
      <p:sp>
        <p:nvSpPr>
          <p:cNvPr id="11" name="Text 8"/>
          <p:cNvSpPr/>
          <p:nvPr/>
        </p:nvSpPr>
        <p:spPr>
          <a:xfrm>
            <a:off x="6572845" y="3278862"/>
            <a:ext cx="7016829" cy="114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    print(f"Contando: {i}")# Resultado: 0, 1, 2, 3, 4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24349" y="5093613"/>
            <a:ext cx="7713821" cy="2643664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3062" y="5272326"/>
            <a:ext cx="2234684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Loop WHILE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403062" y="5658803"/>
            <a:ext cx="735639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Continua repetindo enquanto uma condição for verdadeira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3062" y="6146006"/>
            <a:ext cx="7356396" cy="1412557"/>
          </a:xfrm>
          <a:prstGeom prst="roundRect">
            <a:avLst>
              <a:gd name="adj" fmla="val 1898"/>
            </a:avLst>
          </a:prstGeom>
          <a:solidFill>
            <a:srgbClr val="2C2C2C"/>
          </a:solidFill>
          <a:ln/>
        </p:spPr>
      </p:sp>
      <p:sp>
        <p:nvSpPr>
          <p:cNvPr id="16" name="Shape 13"/>
          <p:cNvSpPr/>
          <p:nvPr/>
        </p:nvSpPr>
        <p:spPr>
          <a:xfrm>
            <a:off x="6394133" y="6146006"/>
            <a:ext cx="7374255" cy="1412557"/>
          </a:xfrm>
          <a:prstGeom prst="roundRect">
            <a:avLst>
              <a:gd name="adj" fmla="val 1898"/>
            </a:avLst>
          </a:prstGeom>
          <a:solidFill>
            <a:srgbClr val="2C2C2C"/>
          </a:solidFill>
          <a:ln/>
        </p:spPr>
      </p:sp>
      <p:sp>
        <p:nvSpPr>
          <p:cNvPr id="17" name="Text 14"/>
          <p:cNvSpPr/>
          <p:nvPr/>
        </p:nvSpPr>
        <p:spPr>
          <a:xfrm>
            <a:off x="6572845" y="6280071"/>
            <a:ext cx="7016829" cy="114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= 0while contador &lt; 3: print("Repetindo...") contador += 1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715" y="400050"/>
            <a:ext cx="5743337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Funções: Organizando seu Código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15" y="1233130"/>
            <a:ext cx="5176123" cy="51761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9715" y="6572250"/>
            <a:ext cx="5176123" cy="695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 são como receitas de culinária - você define os ingredientes (parâmetros) e os passos (código), e pode usar essa receita quantas vezes quiser!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334363" y="1378029"/>
            <a:ext cx="7723703" cy="144899"/>
          </a:xfrm>
          <a:prstGeom prst="roundRect">
            <a:avLst>
              <a:gd name="adj" fmla="val 15003"/>
            </a:avLst>
          </a:prstGeom>
          <a:solidFill>
            <a:srgbClr val="3E3E3E"/>
          </a:solidFill>
          <a:ln/>
        </p:spPr>
      </p:sp>
      <p:sp>
        <p:nvSpPr>
          <p:cNvPr id="6" name="Shape 3"/>
          <p:cNvSpPr/>
          <p:nvPr/>
        </p:nvSpPr>
        <p:spPr>
          <a:xfrm>
            <a:off x="6117074" y="1233071"/>
            <a:ext cx="434697" cy="434697"/>
          </a:xfrm>
          <a:prstGeom prst="roundRect">
            <a:avLst>
              <a:gd name="adj" fmla="val 105177"/>
            </a:avLst>
          </a:prstGeom>
          <a:solidFill>
            <a:srgbClr val="3E3E3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78" y="1314629"/>
            <a:ext cx="217289" cy="2717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1973" y="1812727"/>
            <a:ext cx="1811536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Definição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261973" y="2184083"/>
            <a:ext cx="7651313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</a:t>
            </a:r>
            <a:pPr algn="l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</a:t>
            </a:r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criar uma função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551652" y="2850594"/>
            <a:ext cx="7506414" cy="144899"/>
          </a:xfrm>
          <a:prstGeom prst="roundRect">
            <a:avLst>
              <a:gd name="adj" fmla="val 15003"/>
            </a:avLst>
          </a:prstGeom>
          <a:solidFill>
            <a:srgbClr val="3E3E3E"/>
          </a:solidFill>
          <a:ln/>
        </p:spPr>
      </p:sp>
      <p:sp>
        <p:nvSpPr>
          <p:cNvPr id="11" name="Shape 7"/>
          <p:cNvSpPr/>
          <p:nvPr/>
        </p:nvSpPr>
        <p:spPr>
          <a:xfrm>
            <a:off x="6334363" y="2705636"/>
            <a:ext cx="434697" cy="434697"/>
          </a:xfrm>
          <a:prstGeom prst="roundRect">
            <a:avLst>
              <a:gd name="adj" fmla="val 105177"/>
            </a:avLst>
          </a:prstGeom>
          <a:solidFill>
            <a:srgbClr val="3E3E3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067" y="2787194"/>
            <a:ext cx="217289" cy="2717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79262" y="3285292"/>
            <a:ext cx="1811536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Parâmetros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79262" y="3656648"/>
            <a:ext cx="7434024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Dados que a função recebe para processar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769060" y="4323159"/>
            <a:ext cx="7289006" cy="144899"/>
          </a:xfrm>
          <a:prstGeom prst="roundRect">
            <a:avLst>
              <a:gd name="adj" fmla="val 15003"/>
            </a:avLst>
          </a:prstGeom>
          <a:solidFill>
            <a:srgbClr val="3E3E3E"/>
          </a:solidFill>
          <a:ln/>
        </p:spPr>
      </p:sp>
      <p:sp>
        <p:nvSpPr>
          <p:cNvPr id="16" name="Shape 11"/>
          <p:cNvSpPr/>
          <p:nvPr/>
        </p:nvSpPr>
        <p:spPr>
          <a:xfrm>
            <a:off x="6551771" y="4178201"/>
            <a:ext cx="434697" cy="434697"/>
          </a:xfrm>
          <a:prstGeom prst="roundRect">
            <a:avLst>
              <a:gd name="adj" fmla="val 105177"/>
            </a:avLst>
          </a:prstGeom>
          <a:solidFill>
            <a:srgbClr val="3E3E3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75" y="4259759"/>
            <a:ext cx="217289" cy="27170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96670" y="4757857"/>
            <a:ext cx="1811536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Retorno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696670" y="5129213"/>
            <a:ext cx="7216616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que a função devolve após processar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117074" y="5668923"/>
            <a:ext cx="1811536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Exemplo Prático: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17074" y="6058376"/>
            <a:ext cx="7941112" cy="1608058"/>
          </a:xfrm>
          <a:prstGeom prst="roundRect">
            <a:avLst>
              <a:gd name="adj" fmla="val 1352"/>
            </a:avLst>
          </a:prstGeom>
          <a:solidFill>
            <a:srgbClr val="2C2C2C"/>
          </a:solidFill>
          <a:ln/>
        </p:spPr>
      </p:sp>
      <p:sp>
        <p:nvSpPr>
          <p:cNvPr id="22" name="Shape 16"/>
          <p:cNvSpPr/>
          <p:nvPr/>
        </p:nvSpPr>
        <p:spPr>
          <a:xfrm>
            <a:off x="6109930" y="6058376"/>
            <a:ext cx="7955399" cy="1608058"/>
          </a:xfrm>
          <a:prstGeom prst="roundRect">
            <a:avLst>
              <a:gd name="adj" fmla="val 1352"/>
            </a:avLst>
          </a:prstGeom>
          <a:solidFill>
            <a:srgbClr val="2C2C2C"/>
          </a:solidFill>
          <a:ln/>
        </p:spPr>
      </p:sp>
      <p:sp>
        <p:nvSpPr>
          <p:cNvPr id="23" name="Text 17"/>
          <p:cNvSpPr/>
          <p:nvPr/>
        </p:nvSpPr>
        <p:spPr>
          <a:xfrm>
            <a:off x="6254829" y="6166961"/>
            <a:ext cx="7665601" cy="1390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saudacao(nome): return f"Olá, {nome}! Bem-vindo!"# Usando a funçãomensagem = saudacao("Maria")print(mensagem) # "Olá, Maria! Bem-vindo!"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69406"/>
            <a:ext cx="7556421" cy="124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0"/>
              </a:lnSpc>
              <a:buNone/>
            </a:pPr>
            <a:r>
              <a:rPr lang="en-US" sz="78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Mão na Massa!</a:t>
            </a:r>
            <a:endParaRPr lang="en-US" sz="7800" dirty="0"/>
          </a:p>
        </p:txBody>
      </p:sp>
      <p:sp>
        <p:nvSpPr>
          <p:cNvPr id="4" name="Text 1"/>
          <p:cNvSpPr/>
          <p:nvPr/>
        </p:nvSpPr>
        <p:spPr>
          <a:xfrm>
            <a:off x="793790" y="4407456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Chegou o momento mais emocionante! Vamos criar nosso primeiro projeto Python aplicando todos os conceitos que aprendemos. Este será seu primeiro passo como programador!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119" y="523875"/>
            <a:ext cx="640937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Projeto: Sistema de Cadastro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303770" y="1500307"/>
            <a:ext cx="22860" cy="5688925"/>
          </a:xfrm>
          <a:prstGeom prst="roundRect">
            <a:avLst>
              <a:gd name="adj" fmla="val 125023"/>
            </a:avLst>
          </a:prstGeom>
          <a:solidFill>
            <a:srgbClr val="575757"/>
          </a:solidFill>
          <a:ln/>
        </p:spPr>
      </p:sp>
      <p:sp>
        <p:nvSpPr>
          <p:cNvPr id="4" name="Shape 2"/>
          <p:cNvSpPr/>
          <p:nvPr/>
        </p:nvSpPr>
        <p:spPr>
          <a:xfrm>
            <a:off x="6552248" y="1703189"/>
            <a:ext cx="571500" cy="22860"/>
          </a:xfrm>
          <a:prstGeom prst="roundRect">
            <a:avLst>
              <a:gd name="adj" fmla="val 125023"/>
            </a:avLst>
          </a:prstGeom>
          <a:solidFill>
            <a:srgbClr val="575757"/>
          </a:solidFill>
          <a:ln/>
        </p:spPr>
      </p:sp>
      <p:sp>
        <p:nvSpPr>
          <p:cNvPr id="5" name="Shape 3"/>
          <p:cNvSpPr/>
          <p:nvPr/>
        </p:nvSpPr>
        <p:spPr>
          <a:xfrm>
            <a:off x="7100888" y="1500307"/>
            <a:ext cx="428625" cy="428625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6" name="Text 4"/>
          <p:cNvSpPr/>
          <p:nvPr/>
        </p:nvSpPr>
        <p:spPr>
          <a:xfrm>
            <a:off x="7172325" y="1536025"/>
            <a:ext cx="2857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980974" y="1565791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1. Criar o arquivo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2119" y="1977747"/>
            <a:ext cx="56004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Crie um arquivo chamado </a:t>
            </a:r>
            <a:pPr algn="r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sistema.py</a:t>
            </a:r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 seu computador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06653" y="2846308"/>
            <a:ext cx="571500" cy="22860"/>
          </a:xfrm>
          <a:prstGeom prst="roundRect">
            <a:avLst>
              <a:gd name="adj" fmla="val 125023"/>
            </a:avLst>
          </a:prstGeom>
          <a:solidFill>
            <a:srgbClr val="575757"/>
          </a:solidFill>
          <a:ln/>
        </p:spPr>
      </p:sp>
      <p:sp>
        <p:nvSpPr>
          <p:cNvPr id="10" name="Shape 8"/>
          <p:cNvSpPr/>
          <p:nvPr/>
        </p:nvSpPr>
        <p:spPr>
          <a:xfrm>
            <a:off x="7100888" y="2643426"/>
            <a:ext cx="428625" cy="428625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1" name="Text 9"/>
          <p:cNvSpPr/>
          <p:nvPr/>
        </p:nvSpPr>
        <p:spPr>
          <a:xfrm>
            <a:off x="7172325" y="2679144"/>
            <a:ext cx="2857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267819" y="2708910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2. Definir variáveis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67819" y="3120866"/>
            <a:ext cx="56004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Declare variáveis para nome, idade e email do usuário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52248" y="3831669"/>
            <a:ext cx="571500" cy="22860"/>
          </a:xfrm>
          <a:prstGeom prst="roundRect">
            <a:avLst>
              <a:gd name="adj" fmla="val 125023"/>
            </a:avLst>
          </a:prstGeom>
          <a:solidFill>
            <a:srgbClr val="575757"/>
          </a:solidFill>
          <a:ln/>
        </p:spPr>
      </p:sp>
      <p:sp>
        <p:nvSpPr>
          <p:cNvPr id="15" name="Shape 13"/>
          <p:cNvSpPr/>
          <p:nvPr/>
        </p:nvSpPr>
        <p:spPr>
          <a:xfrm>
            <a:off x="7100888" y="3628787"/>
            <a:ext cx="428625" cy="428625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6" name="Text 14"/>
          <p:cNvSpPr/>
          <p:nvPr/>
        </p:nvSpPr>
        <p:spPr>
          <a:xfrm>
            <a:off x="7172325" y="3664506"/>
            <a:ext cx="2857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3346252" y="3694271"/>
            <a:ext cx="301632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 Criar função de validação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62119" y="4106228"/>
            <a:ext cx="56004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Função que verifica se a idade é válida (maior que 0)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06653" y="4817031"/>
            <a:ext cx="571500" cy="22860"/>
          </a:xfrm>
          <a:prstGeom prst="roundRect">
            <a:avLst>
              <a:gd name="adj" fmla="val 125023"/>
            </a:avLst>
          </a:prstGeom>
          <a:solidFill>
            <a:srgbClr val="575757"/>
          </a:solidFill>
          <a:ln/>
        </p:spPr>
      </p:sp>
      <p:sp>
        <p:nvSpPr>
          <p:cNvPr id="20" name="Shape 18"/>
          <p:cNvSpPr/>
          <p:nvPr/>
        </p:nvSpPr>
        <p:spPr>
          <a:xfrm>
            <a:off x="7100888" y="4614148"/>
            <a:ext cx="428625" cy="428625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7172325" y="4649867"/>
            <a:ext cx="2857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8267819" y="4679633"/>
            <a:ext cx="311800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4. Implementar condicionais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8267819" y="5091589"/>
            <a:ext cx="56004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if/else para validar os dados inseridos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52248" y="5802392"/>
            <a:ext cx="571500" cy="22860"/>
          </a:xfrm>
          <a:prstGeom prst="roundRect">
            <a:avLst>
              <a:gd name="adj" fmla="val 125023"/>
            </a:avLst>
          </a:prstGeom>
          <a:solidFill>
            <a:srgbClr val="575757"/>
          </a:solidFill>
          <a:ln/>
        </p:spPr>
      </p:sp>
      <p:sp>
        <p:nvSpPr>
          <p:cNvPr id="25" name="Shape 23"/>
          <p:cNvSpPr/>
          <p:nvPr/>
        </p:nvSpPr>
        <p:spPr>
          <a:xfrm>
            <a:off x="7100888" y="5599509"/>
            <a:ext cx="428625" cy="428625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26" name="Text 24"/>
          <p:cNvSpPr/>
          <p:nvPr/>
        </p:nvSpPr>
        <p:spPr>
          <a:xfrm>
            <a:off x="7172325" y="5635228"/>
            <a:ext cx="2857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3980974" y="5664994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5. Salvar no GitHub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62119" y="6076950"/>
            <a:ext cx="56004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Faça commit do seu primeiro código Python!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62119" y="7403544"/>
            <a:ext cx="131061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final deste exercício, vocês terão criado um sistema funcional que demonstra todos os conceitos fundamentais do Python!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79" y="384215"/>
            <a:ext cx="3493294" cy="444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Parabéns! </a:t>
            </a:r>
            <a:pPr algn="l" indent="0" marL="0">
              <a:lnSpc>
                <a:spcPts val="34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🎉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58879" y="1163717"/>
            <a:ext cx="6585942" cy="670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Vocês acabaram de dar seus primeiros passos no mundo da programação Python! Hoje aprendemos os pilares fundamentais que sustentam qualquer programa: variáveis, estruturas de controle e funções.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58879" y="1991678"/>
            <a:ext cx="6585942" cy="868442"/>
          </a:xfrm>
          <a:prstGeom prst="roundRect">
            <a:avLst>
              <a:gd name="adj" fmla="val 2414"/>
            </a:avLst>
          </a:prstGeom>
          <a:solidFill>
            <a:srgbClr val="3E3E3E"/>
          </a:solidFill>
          <a:ln/>
        </p:spPr>
      </p:sp>
      <p:sp>
        <p:nvSpPr>
          <p:cNvPr id="5" name="Text 3"/>
          <p:cNvSpPr/>
          <p:nvPr/>
        </p:nvSpPr>
        <p:spPr>
          <a:xfrm>
            <a:off x="698540" y="2131338"/>
            <a:ext cx="1746647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Variáveis e Tipos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8540" y="2496860"/>
            <a:ext cx="6306622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armazenar dados na memória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58879" y="2999780"/>
            <a:ext cx="6585942" cy="868442"/>
          </a:xfrm>
          <a:prstGeom prst="roundRect">
            <a:avLst>
              <a:gd name="adj" fmla="val 2414"/>
            </a:avLst>
          </a:prstGeom>
          <a:solidFill>
            <a:srgbClr val="3E3E3E"/>
          </a:solidFill>
          <a:ln/>
        </p:spPr>
      </p:sp>
      <p:sp>
        <p:nvSpPr>
          <p:cNvPr id="8" name="Text 6"/>
          <p:cNvSpPr/>
          <p:nvPr/>
        </p:nvSpPr>
        <p:spPr>
          <a:xfrm>
            <a:off x="698540" y="3139440"/>
            <a:ext cx="1967865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Condicionais e Loops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8540" y="3504962"/>
            <a:ext cx="6306622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Controlando o fluxo do programa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8879" y="4007882"/>
            <a:ext cx="6585942" cy="868442"/>
          </a:xfrm>
          <a:prstGeom prst="roundRect">
            <a:avLst>
              <a:gd name="adj" fmla="val 2414"/>
            </a:avLst>
          </a:prstGeom>
          <a:solidFill>
            <a:srgbClr val="3E3E3E"/>
          </a:solidFill>
          <a:ln/>
        </p:spPr>
      </p:sp>
      <p:sp>
        <p:nvSpPr>
          <p:cNvPr id="11" name="Text 9"/>
          <p:cNvSpPr/>
          <p:nvPr/>
        </p:nvSpPr>
        <p:spPr>
          <a:xfrm>
            <a:off x="698540" y="4147542"/>
            <a:ext cx="1746647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Funções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8540" y="4513064"/>
            <a:ext cx="6306622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Organizando código reutilizável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198" y="1195149"/>
            <a:ext cx="6585942" cy="658594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93198" y="7938254"/>
            <a:ext cx="6585942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Próxima aula: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Vamos explorar listas, dicionários e começar a trabalhar com bibliotecas externas!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3198" y="8287583"/>
            <a:ext cx="6585942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 - a programação é como aprender um instrumento musical: quanto mais você pratica, mais natural se torna!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2025-09-21T18:17:18Z</dcterms:created>
  <dcterms:modified xsi:type="dcterms:W3CDTF">2025-09-21T18:17:18Z</dcterms:modified>
</cp:coreProperties>
</file>